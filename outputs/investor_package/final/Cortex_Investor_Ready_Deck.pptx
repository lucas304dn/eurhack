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2484146e4e4759" /><Relationship Type="http://schemas.openxmlformats.org/officeDocument/2006/relationships/extended-properties" Target="/docProps/app.xml" Id="R52024daa2b6e4fa1" /><Relationship Type="http://schemas.openxmlformats.org/officeDocument/2006/relationships/officeDocument" Target="/ppt/presentation.xml" Id="R8fcdf1b83eb54e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a2c4ef9aae4a82"/>
  </p:sldMasterIdLst>
  <p:notesMasterIdLst>
    <p:notesMasterId xmlns:r="http://schemas.openxmlformats.org/officeDocument/2006/relationships" r:id="Ra48756a3d6ef48b0"/>
  </p:notesMasterIdLst>
  <p:sldIdLst>
    <p:sldId xmlns:r="http://schemas.openxmlformats.org/officeDocument/2006/relationships" id="256" r:id="Rd8e4ef87516d4ee5"/>
    <p:sldId xmlns:r="http://schemas.openxmlformats.org/officeDocument/2006/relationships" id="257" r:id="Re9f6f71d2d94436b"/>
    <p:sldId xmlns:r="http://schemas.openxmlformats.org/officeDocument/2006/relationships" id="258" r:id="R721a2bbd2a3a422f"/>
    <p:sldId xmlns:r="http://schemas.openxmlformats.org/officeDocument/2006/relationships" id="259" r:id="R8faa16f064d74bcf"/>
    <p:sldId xmlns:r="http://schemas.openxmlformats.org/officeDocument/2006/relationships" id="260" r:id="R99cfef2f23da49d0"/>
    <p:sldId xmlns:r="http://schemas.openxmlformats.org/officeDocument/2006/relationships" id="261" r:id="R62fcf26c2c6d40ed"/>
    <p:sldId xmlns:r="http://schemas.openxmlformats.org/officeDocument/2006/relationships" id="262" r:id="R1f28a5b17baa4e89"/>
    <p:sldId xmlns:r="http://schemas.openxmlformats.org/officeDocument/2006/relationships" id="263" r:id="R9f330164378e45ea"/>
    <p:sldId xmlns:r="http://schemas.openxmlformats.org/officeDocument/2006/relationships" id="264" r:id="R790370eca82441b4"/>
    <p:sldId xmlns:r="http://schemas.openxmlformats.org/officeDocument/2006/relationships" id="265" r:id="Rde36db28404c4716"/>
    <p:sldId xmlns:r="http://schemas.openxmlformats.org/officeDocument/2006/relationships" id="266" r:id="R8f0c3847ae2e4ea0"/>
    <p:sldId xmlns:r="http://schemas.openxmlformats.org/officeDocument/2006/relationships" id="267" r:id="R960a7b32794d4e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a2c4ef9aae4a82" /><Relationship Type="http://schemas.openxmlformats.org/officeDocument/2006/relationships/theme" Target="/ppt/theme/theme1.xml" Id="R8bb15959008a401b" /><Relationship Type="http://schemas.openxmlformats.org/officeDocument/2006/relationships/notesMaster" Target="/ppt/notesMasters/notesMaster1.xml" Id="Ra48756a3d6ef48b0" /><Relationship Type="http://schemas.openxmlformats.org/officeDocument/2006/relationships/presProps" Target="/ppt/presProps.xml" Id="R9ec2b627d14a4a84" /><Relationship Type="http://schemas.openxmlformats.org/officeDocument/2006/relationships/viewProps" Target="/ppt/viewProps.xml" Id="R8e8fbf4009b143c1" /><Relationship Type="http://schemas.openxmlformats.org/officeDocument/2006/relationships/tableStyles" Target="/ppt/tableStyles.xml" Id="Rd667cf2ce91a4198" /><Relationship Type="http://schemas.openxmlformats.org/officeDocument/2006/relationships/slide" Target="/ppt/slides/slide1.xml" Id="Rd8e4ef87516d4ee5" /><Relationship Type="http://schemas.openxmlformats.org/officeDocument/2006/relationships/slide" Target="/ppt/slides/slide2.xml" Id="Re9f6f71d2d94436b" /><Relationship Type="http://schemas.openxmlformats.org/officeDocument/2006/relationships/slide" Target="/ppt/slides/slide3.xml" Id="R721a2bbd2a3a422f" /><Relationship Type="http://schemas.openxmlformats.org/officeDocument/2006/relationships/slide" Target="/ppt/slides/slide4.xml" Id="R8faa16f064d74bcf" /><Relationship Type="http://schemas.openxmlformats.org/officeDocument/2006/relationships/slide" Target="/ppt/slides/slide5.xml" Id="R99cfef2f23da49d0" /><Relationship Type="http://schemas.openxmlformats.org/officeDocument/2006/relationships/slide" Target="/ppt/slides/slide6.xml" Id="R62fcf26c2c6d40ed" /><Relationship Type="http://schemas.openxmlformats.org/officeDocument/2006/relationships/slide" Target="/ppt/slides/slide7.xml" Id="R1f28a5b17baa4e89" /><Relationship Type="http://schemas.openxmlformats.org/officeDocument/2006/relationships/slide" Target="/ppt/slides/slide8.xml" Id="R9f330164378e45ea" /><Relationship Type="http://schemas.openxmlformats.org/officeDocument/2006/relationships/slide" Target="/ppt/slides/slide9.xml" Id="R790370eca82441b4" /><Relationship Type="http://schemas.openxmlformats.org/officeDocument/2006/relationships/slide" Target="/ppt/slides/slide10.xml" Id="Rde36db28404c4716" /><Relationship Type="http://schemas.openxmlformats.org/officeDocument/2006/relationships/slide" Target="/ppt/slides/slide11.xml" Id="R8f0c3847ae2e4ea0" /><Relationship Type="http://schemas.openxmlformats.org/officeDocument/2006/relationships/slide" Target="/ppt/slides/slide12.xml" Id="R960a7b32794d4e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0a71fcb5a774e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77af7f318a54d7c" /><Relationship Type="http://schemas.openxmlformats.org/officeDocument/2006/relationships/notesMaster" Target="/ppt/notesMasters/notesMaster1.xml" Id="R7aece50c7f934b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1cf20a87634b0e" /><Relationship Type="http://schemas.openxmlformats.org/officeDocument/2006/relationships/notesMaster" Target="/ppt/notesMasters/notesMaster1.xml" Id="R0becf3737a954b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f91524ff6944a22" /><Relationship Type="http://schemas.openxmlformats.org/officeDocument/2006/relationships/notesMaster" Target="/ppt/notesMasters/notesMaster1.xml" Id="Rb4e8d14cedd348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dad55e15554ef1" /><Relationship Type="http://schemas.openxmlformats.org/officeDocument/2006/relationships/notesMaster" Target="/ppt/notesMasters/notesMaster1.xml" Id="Rc010e52fa08a46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4e63b33866452c" /><Relationship Type="http://schemas.openxmlformats.org/officeDocument/2006/relationships/notesMaster" Target="/ppt/notesMasters/notesMaster1.xml" Id="Rd42cb34531a940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e38638fdb4493f" /><Relationship Type="http://schemas.openxmlformats.org/officeDocument/2006/relationships/notesMaster" Target="/ppt/notesMasters/notesMaster1.xml" Id="Ra2cf689810ba46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8d5cd36bfa4d53" /><Relationship Type="http://schemas.openxmlformats.org/officeDocument/2006/relationships/notesMaster" Target="/ppt/notesMasters/notesMaster1.xml" Id="Ra2e011385bd1435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78df21114a425c" /><Relationship Type="http://schemas.openxmlformats.org/officeDocument/2006/relationships/notesMaster" Target="/ppt/notesMasters/notesMaster1.xml" Id="Rb78101c32c8a40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d0cc2260164176" /><Relationship Type="http://schemas.openxmlformats.org/officeDocument/2006/relationships/notesMaster" Target="/ppt/notesMasters/notesMaster1.xml" Id="R957efec6a8e54a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12c424fd7f4e9f" /><Relationship Type="http://schemas.openxmlformats.org/officeDocument/2006/relationships/notesMaster" Target="/ppt/notesMasters/notesMaster1.xml" Id="R5f5c1923c7e74a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73519e06994164" /><Relationship Type="http://schemas.openxmlformats.org/officeDocument/2006/relationships/notesMaster" Target="/ppt/notesMasters/notesMaster1.xml" Id="Ra851e76a1b42495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4e6da970604720" /><Relationship Type="http://schemas.openxmlformats.org/officeDocument/2006/relationships/notesMaster" Target="/ppt/notesMasters/notesMaster1.xml" Id="R6d367deae1cd43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33b8008b2b41d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5745903bcbf4864" /><Relationship Type="http://schemas.openxmlformats.org/officeDocument/2006/relationships/slideLayout" Target="/ppt/slideLayouts/slideLayout2.xml" Id="R23fd8be824e34f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fd8be824e34f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3ecc73d28d45fa" /><Relationship Type="http://schemas.openxmlformats.org/officeDocument/2006/relationships/notesSlide" Target="/ppt/notesSlides/notesSlide1.xml" Id="R82255375cc084a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a766ca42e948d7" /><Relationship Type="http://schemas.openxmlformats.org/officeDocument/2006/relationships/notesSlide" Target="/ppt/notesSlides/notesSlide2.xml" Id="Rfac4f319e854410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6f7a8f8e314cac" /><Relationship Type="http://schemas.openxmlformats.org/officeDocument/2006/relationships/notesSlide" Target="/ppt/notesSlides/notesSlide3.xml" Id="R4cd614a47e2b4a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c9940d1e584ad2" /><Relationship Type="http://schemas.openxmlformats.org/officeDocument/2006/relationships/notesSlide" Target="/ppt/notesSlides/notesSlide4.xml" Id="R0329a43bc43840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9383ce538b493d" /><Relationship Type="http://schemas.openxmlformats.org/officeDocument/2006/relationships/notesSlide" Target="/ppt/notesSlides/notesSlide5.xml" Id="Ra7817af745f7448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639ec2ee1cd454d" /><Relationship Type="http://schemas.openxmlformats.org/officeDocument/2006/relationships/notesSlide" Target="/ppt/notesSlides/notesSlide6.xml" Id="R01444ef81ab441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602fe7ac26549a6" /><Relationship Type="http://schemas.openxmlformats.org/officeDocument/2006/relationships/notesSlide" Target="/ppt/notesSlides/notesSlide7.xml" Id="R8164af757aac4a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035533b24b4fe6" /><Relationship Type="http://schemas.openxmlformats.org/officeDocument/2006/relationships/notesSlide" Target="/ppt/notesSlides/notesSlide8.xml" Id="R6be34bbb4a6648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4045ae966c4333" /><Relationship Type="http://schemas.openxmlformats.org/officeDocument/2006/relationships/notesSlide" Target="/ppt/notesSlides/notesSlide9.xml" Id="Re7cf140cc0d14cf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2f0dd9743c46e9" /><Relationship Type="http://schemas.openxmlformats.org/officeDocument/2006/relationships/notesSlide" Target="/ppt/notesSlides/notesSlide10.xml" Id="Rf1888a6bcb4845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f3ae05b55b4bfc" /><Relationship Type="http://schemas.openxmlformats.org/officeDocument/2006/relationships/notesSlide" Target="/ppt/notesSlides/notesSlide11.xml" Id="R243b0c50843e49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114dadc6cf4353" /><Relationship Type="http://schemas.openxmlformats.org/officeDocument/2006/relationships/notesSlide" Target="/ppt/notesSlides/notesSlide12.xml" Id="Re0e7e0f3cd4f4a8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DE7617-7C38-4901-BCF4-3791BB86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AFB1A-D651-42DA-9149-56BE1890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CC44D-6278-4C4F-8EE2-B070B78C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BD4070-AF15-485C-BC1E-A8F28F4A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41E28C-C0A3-48D2-B63D-37BAAFC86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CORTEX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BBEFC-18C8-4663-88DB-8E78F7D8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00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Investor-ready hackathon 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11D1D-B25A-42F0-AC6B-FCA95CB4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685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40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Brain-informed ad creation before media spend.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B782A1-37DC-4F94-AF35-4E1EBF41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Cortex turns ad creation into a pre-spend feedback loop: generate</a:t>
            </a:r>
          </a:p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multimodal creative, predict neural response, and export the</a:t>
            </a:r>
          </a:p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highest-potential assets before media budget is committed.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DA7787-EA1D-4DDF-AB39-AF2D1FD8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4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9D5EF-7EE8-44EC-9C89-0EEA21CC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95FBE-B6CD-4133-8CAF-4A5B233A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197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16EEA-5EDE-4861-9AAB-43BC3577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911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Creative formats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D096B8-F8F1-432F-934F-9178AFA5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72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text, image, video, audio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1DA8A-310A-4E73-83BA-F9EE2313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5143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3B845F-C8A3-404D-9454-024076C9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8AC578-40F1-4CF2-ACE6-961CBAAA3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5911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Neural rubrics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9466F8-D9A6-4B25-8B3E-3056259E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772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attention, memory, language...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F31076-C38A-46A4-B85C-FA4CAC5A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143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600B3B-E89C-4333-A68C-B9799999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2197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EUR 2.7M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90146-0E53-4E74-B983-3C1CD815C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5911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Y3 revenue case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CAEBDE-94B9-4C4E-84AE-37112C79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772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directional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BC19DD-2CAC-4197-8108-4031A8B9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14350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5C79E3-7B95-4FBF-A2D9-D0AD6C04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197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EUR 750k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E5F8D-08D9-4088-A5D9-B113F932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9117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Seed 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57F724-7EDE-4205-8B2B-C8E2A8BA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77215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license + GTM runway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89016B-0460-42B6-A185-CA9647F3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Cortex | investor narrative, BMC, and 3-year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F75CBF-4B4F-4030-9641-4B3BA946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2C3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2C3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316676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AA5744-5383-4DAD-9340-DAF9BBDF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2F992-60FE-4EDF-B462-FB91BBB9A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641AB5-8143-4BEA-9443-ED1B20F9B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E8C192A-301D-4843-A5E3-609668B0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3B0515-0FDF-4438-9D6A-A9D8C120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P R O B L E 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5CC49-0A33-4FAB-B9BC-CB4B6D0F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Marketers still learn whether creative works only after the budget is already burning.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9849B9-18E6-42EA-8758-33C0A15C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Creative testing is trapped between subjective review and lagging platform metrics. Small teams cannot afford full neuromarketing studies, and agencies need faster proof before scaling spend.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7CC88-EAD9-4A3B-82FB-974AF224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90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Subjective creative reviews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CB1F0-7261-4BA9-9442-F3B2761CE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419475"/>
            <a:ext cx="4429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8B410-A883-46C8-987C-2478B385D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419475"/>
            <a:ext cx="4060031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451CC-1521-4405-AC01-A24E84A8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371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fast / weak signal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5DA412-F01D-4D0C-A029-FD90C89B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195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A/B testing after spend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2412D1-E0F7-44B2-9C59-80FF918BE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848100"/>
            <a:ext cx="4429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4319F-BA51-4755-AEC5-1A0D35F7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848100"/>
            <a:ext cx="322957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7AC92-1F52-4732-B237-5DA10B86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380047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real / delayed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BC3E81-B849-4E5A-BDEF-11B706C2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Lab neuromarketing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14ECFC-B703-4977-AE12-2E08AA4B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76725"/>
            <a:ext cx="4429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E6E27-E088-4F18-AF47-969708D8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276725"/>
            <a:ext cx="129182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A8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9A0AAA-7E59-4F38-A3FE-91B9DE90A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2291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strong / slow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CA642D-F7A9-41E5-8AE6-1FAF9A18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767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Cortex target state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AD0CF2-61D9-48B9-9A0C-665696FA0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05350"/>
            <a:ext cx="4429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6100C5-9E8E-4CE8-9140-CAAF289D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4705350"/>
            <a:ext cx="44291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F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39BC8-A3CD-4ED0-B880-80A59F7D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6577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fast / pre-spend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61FAF2-6148-47E1-8F8C-4B7B7D0D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1907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8EE5C-DEB2-4680-81F5-33B78F1E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52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FD7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FD7FF"/>
                </a:solidFill>
                <a:latin typeface="Aptos"/>
                <a:ea typeface="Aptos"/>
                <a:cs typeface="Aptos"/>
              </a:rPr>
              <a:t>Shortlist point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CA2074-9767-4733-B760-BF654930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914650"/>
            <a:ext cx="1600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The product does not ask judges to believe in better ads. It shows a workflow for deciding which assets deserve money before campaigns go live.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633F8C-5C55-41AF-879D-54572938F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Cortex investor package | directional 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5B5CC5-2007-4379-8DE6-F7FEC2E2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2C3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2C3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574795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223BD3-082C-4312-B1FC-C2DD5B9A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44B95-A0F6-4C90-9A12-2A591FA9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48347-30E1-45F2-A0F8-3E3246BC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D8287E7-3AC8-46CB-8926-947750B6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C5A2B0C-2528-419B-8D7D-5A0F899E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S O L U T I O 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1F1B25-7193-4723-BF77-AE86AD0A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Cortex closes the loop: generate, predict response, keep the best creative.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96B02E-21A8-4FB5-BE3A-C54ACA37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209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CC784-DD8D-4D6F-8554-9E7B9258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DA7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BDA7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994D23-FE0B-4903-8F89-18090E72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9CA59-66D2-49FA-9CFE-0E2636BC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Start from a campaign brief or upload existing creative.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8F19D8-0969-4854-8D79-ABDB3EC1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766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1025A0-9C34-4896-B1CB-C0C0CE74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558CD7-CF6C-4B80-B49A-591A1ABA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76500"/>
            <a:ext cx="2209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C7523A-8453-4581-976B-0C9462575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2415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DA7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BDA7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A785D-EC77-41D5-B85A-53B91C97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76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B633E-21F3-47FA-A5A4-324DC0A8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6766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Create copy, image, video, or audio variants.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C345C-BEA6-4292-8A30-BC469C6C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766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0C8AA-C125-4F50-8D72-88B12464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DE5C0-9EA1-41DB-AEDD-D9CF50B7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2209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3B0B8C-CF1E-4719-909A-66624E41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2415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8FD7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8FD7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D0822F-E7BD-4F68-AEEC-588EF5FB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76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6452D7-54CF-4E49-BA3D-2944150C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766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Run text/audio/video through TRIBE v2 neural-response prediction.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54D610-C307-49F5-88A1-9AB80818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76625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C42DAF-671E-4A57-8D36-E502F914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429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70C23-D9B2-40BD-97B3-F5AABBC5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476500"/>
            <a:ext cx="22098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6001DE-C512-482F-AFCA-818B3F3A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419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DA7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BDA7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7AEF8F-8FB0-4A71-B542-D87E81E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766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Export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AFDB8A-C0D9-4D84-A2A1-BD2AA822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76650"/>
            <a:ext cx="1676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Save reports, CSV/PDF, and prepare platform handoff.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38292-584C-4D6F-81FA-4E15C1AD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9048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1575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Result: a pre-spend creative intelligence layer that feels like a tool, not a research demo.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F05102-5346-414C-9104-D2EFF548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Cortex investor package | directional model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191D06-FC95-4D19-88D3-8739ED15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2C3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2C3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159825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A991F9-C06C-4D25-BDE4-4A5481CA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43835-BFEE-427E-95CF-F693B3E1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5708F-0CDA-447E-8764-0B826C5F9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D51CDDC-8CFB-46CA-B164-7DE35E1B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77A879F-C7C1-4074-803C-B7D423B31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P R O D U C 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01635-829B-4A30-9958-6F44B4FD2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The repo already contains a demoable product surface, not only a concept.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D2476-B17E-406D-B072-0EB0F728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965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1664EF-7C29-473A-B089-F192EA9D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18859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5AA0D-EC18-4C93-A704-9A4B1C4EF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190750"/>
            <a:ext cx="4362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exists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21560-B740-4045-A0C2-3145FBC1A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2838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Investor read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D99435-3E4B-444F-AD62-76F24506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47925"/>
            <a:ext cx="965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1FD4B-1672-47FC-BB4F-5F12F561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Creative generator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AB72FB-949D-48AD-A89F-140147669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14600"/>
            <a:ext cx="436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Text, image, video, audio generation with provider APIs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9885E-5B4E-419B-B9B0-9867466A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1460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Multimodal wedge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AF401-EBB9-4C87-93CC-5E10274E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71775"/>
            <a:ext cx="965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A450EC-CC4E-4E49-98BF-FEE7C810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Gallery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EFEFB5-16DB-4592-BB61-4A88CEA5A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38450"/>
            <a:ext cx="436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Saved assets with download, delete, preview, and fullscreen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7530F8-36E3-45DC-9867-0690E9DB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384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Workflow retention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AD1133-250F-4745-8625-B8356CD04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95625"/>
            <a:ext cx="965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F9541-021D-41A6-917E-3E5A6EA3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Neural Feedback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D8DBED-94B8-4367-89C1-CAB33A21B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62300"/>
            <a:ext cx="436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Upload/select text, audio, video; score cortical response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D0746B-7827-4FC4-9963-6159042AF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6230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Differentiation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498817-ACD1-460D-8A01-EE8E3197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19475"/>
            <a:ext cx="965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A6F2DA-313C-4E00-9321-C1C64820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Reports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5F1B7A-85C3-4FC6-829C-F6A255A4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86150"/>
            <a:ext cx="436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CSV and PDF export with saved TRIBE scores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4E3F6-FA80-499F-BCAB-8449B592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8615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Buyer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A0C8F0-9BDD-42CC-8A65-A602F42A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43325"/>
            <a:ext cx="965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46201A-12E6-4B15-9975-E578B620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188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Integrations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A7510F-6D84-41D8-B4C4-66DF8E3AD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10000"/>
            <a:ext cx="436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Meta Ads marked as coming soon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764D61-3B5C-4495-A2C3-40C24DF9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10000"/>
            <a:ext cx="2838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GTM direction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5734BC-0538-42A4-83BE-BA8FCCFE7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240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CDC5F5-F199-4F8B-8447-118CE2F0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47825"/>
            <a:ext cx="1619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D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FD7FF"/>
                </a:solidFill>
                <a:latin typeface="Aptos"/>
                <a:ea typeface="Aptos"/>
                <a:cs typeface="Aptos"/>
              </a:rPr>
              <a:t>Built evidence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FAD419-7C2C-4C04-B5AE-5D72E57E6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000625"/>
            <a:ext cx="2333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TanStack / Supabase app with live API integrations, persisted media, neural analysis runs, and export logic.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D624E2-3E31-404A-A4D3-DDE1D247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Source: local EURHack repository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4F1E1F-2AAA-436C-A0E0-349CD67E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2C3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2C3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261814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06E85C-36A3-4310-9D7B-0716C574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0555B-4E36-43AF-8AEE-85CD21CF7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DE92D-E9C7-48E8-B52C-BD9864AAE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F9DFE74-818F-4D42-82D7-A4D68F05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6796FDF-AAC7-4BA8-AC20-BD9EC1C1D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W H Y   N O 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78656D-6D9B-488D-B100-C525C3AA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Multimodal generation made creative cheap; brain encoding can make selection smarter.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6F1D14-D019-42B0-B7C4-0CF2CBC0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53589-1BB8-49CC-856A-DA993324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14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1,115h+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EADD2-330B-4E6E-98E1-48EF02F3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860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fMRI training data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BF1E3D-53B4-4FBC-87E8-36F22991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670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TRIBE v2 source 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3106A-9767-48F6-BBB9-E3AD2D7B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038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CBA9B9-5680-428A-AA15-2401A319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14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720+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2BF946-6898-4196-86C0-97DC38C80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860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volunteers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DDD10C-FF3E-476C-8B4D-B8BB2E8E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670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large naturalistic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0BF408-EAC0-4D34-92AC-05B0559F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038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16B068-C2C6-4F87-911E-4B800AC0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114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70x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F26B0-A721-42B9-9296-731706F8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4860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resolution gain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262318-0525-49FC-8771-25A355C5F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670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vs prior methods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5E49E-420B-49C3-AA68-860B4D28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038350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12F51-1134-4D89-AC2D-0F24179F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145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2-3x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D1E16-CBE6-4C08-9A73-F7B09A26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86025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accuracy gain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3BB00E-0221-4C22-9407-58CB2C277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reported in PDF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4C17EB-62F6-4A44-956C-30F50FE9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714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19DC5A-2257-46ED-9936-9201CFA6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Generation layer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B39EBB-71AA-4FC1-84CD-00B05F908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LLMs and media APIs now create many campaign variants in minutes.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5EA644-657E-47F4-A6D9-47ECB005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714750"/>
            <a:ext cx="3714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1B4BA2-084E-4482-A05D-2B5B8615C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005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Prediction layer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2747F2-4476-41F1-98BD-BED4DCED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00550"/>
            <a:ext cx="2857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TRIBE v2 proves a technical path for predicting response to text, audio, and video.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B76BA7-976D-41E2-905D-515C60E6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14750"/>
            <a:ext cx="2095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D272AF-ABB3-4D6F-A54B-0DD3BC259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0005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FD7FF"/>
                </a:solidFill>
                <a:latin typeface="Aptos"/>
                <a:ea typeface="Aptos"/>
                <a:cs typeface="Aptos"/>
              </a:rPr>
              <a:t>Cortex layer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774B35D-A8BF-460B-92D5-783F5117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4005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A practical marketer workflow around both.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F6B0AE-0720-4771-A1CC-3F6D0BF0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Source: TRIBE v2 PDF and local app implementation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158F09-A995-4B56-907E-258BBB44E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2C3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2C3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14627835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4A7369-572E-4F4B-99DA-006E22B7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A3F6B-11E5-465C-ABB7-BA1662C9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D572D-9E53-474C-AD93-18573D7B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C60B155-98E7-4FBE-BA15-1A510F6D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29B2299-372B-45CB-9A73-BDDBD42C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B U S I N E S S   M O D E L   C A N V A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623A52-6749-4976-A23D-680E6F70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The model is a SaaS-plus-usage workflow for marketers and agencies.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BC6C4F-D0B4-402C-B889-1E4F2E4FC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2076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BB6A5E-DDA7-48B9-82F0-D09CC368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Key Partners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A5F200-60D8-4886-BD5F-0FD3AF38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17716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Model/data licensors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Cloud + GPU providers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OpenRouter/Gemini/ElevenLabs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Agency partners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DC5C3-357D-443C-A08E-FE572B2D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90700"/>
            <a:ext cx="2076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BF75D8-4EEC-4DAE-9775-18A31697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240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Key Activities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A98312-C01E-47FF-96F8-5CC6DE51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098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Generate creative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Predict neural response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Interpret scores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Export/report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79D30-5FAA-4FD0-BE6A-267BC1A2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90700"/>
            <a:ext cx="2171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E26B2-49F1-4BCA-AFEF-69475CF3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240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D7FF"/>
                </a:solidFill>
                <a:latin typeface="Aptos"/>
                <a:ea typeface="Aptos"/>
                <a:cs typeface="Aptos"/>
              </a:rPr>
              <a:t>Value Proposition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13516-5838-44C9-B039-22EAF3346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09800"/>
            <a:ext cx="18669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Pre-spend creative intelligence: generate and rank ads before paid budget is committed.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6F032-AAE0-4011-A686-FC39733B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F1F427-2D9F-40D2-8D72-1E383607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240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Customer Relationships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4420F8-5677-41C5-A8F6-26C9118C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098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Self-serve onboarding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Agency pilots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Quarterly creative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3E1B2C-7D50-4B10-A6C7-FA5D64F4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9070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E2D74B-CB06-49DE-8817-2F88CF9B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240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Customer Segments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D560B1-94AE-4048-B71D-9CC305C5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SMB marketers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Performance agencies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DTC brands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Brand labs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7C586-3C90-4A97-BA4F-980BE6428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95600"/>
            <a:ext cx="2076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54135-8049-49E6-BE20-2A444180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Key Resources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48967-A496-492A-9B92-3580EF38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1470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Cortex app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Analysis data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Commercial model rights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ML/product team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7378D-EFD3-4F09-9ADD-8B2F2F28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956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5428FD-596A-43A0-BAC6-F257191A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289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F2B50B-FABB-4BFA-A535-13B0054F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147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Hackathon demo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Founder-led outbound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Agency partnerships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Platform integrations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B1C4B5-CAC8-4724-9F34-1BEC26D7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1512CE-8521-4356-B95A-5C983C44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63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Cost Structure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BA687C-CBD1-46C8-BA54-805CE8F3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Inference/API costs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GPU/model infra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Engineering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Legal/licensing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GTM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F36BEB-3CE9-42DE-8F58-D5B9FB0F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53000"/>
            <a:ext cx="5448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35B706-2269-4FC5-920A-7E8FB14F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Revenue Streams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E6F254-967B-4EE8-A00E-0450EEFA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72100"/>
            <a:ext cx="514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Subscriptions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Usage per analysis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Pilot packages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Reports/API fees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3A45CB-AC69-4435-9913-5187ACC6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Cortex investor package | directional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0C264D-D48E-48CA-AAAB-31BF2F84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2C3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2C3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1608163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51EB939-97FD-4B0E-94CD-F9A6068D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CD314-0077-4029-8A9E-C7ED196E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35AB1-A51C-40EA-8A47-C1543CB7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7869272-D5F4-4F7E-AFEC-0D0CB5F18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F3F3678-B623-4745-B7E5-60DB001E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B E A C H H E A 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01734-A4C8-4B94-BCFE-A500101F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Start with teams who already pay for speed, proof, and campaign iteration.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B6E15-985C-4CF3-9DC8-87666648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288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Performance agencies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671B2-1322-4112-B365-C2E36A99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57425"/>
            <a:ext cx="4524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614DF-235B-4959-B6E2-BF98A4B0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257425"/>
            <a:ext cx="4524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2C662-0D23-4DAD-A64C-A61C01C55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2098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multi-client leverage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08A4A-7401-405E-B15B-EC081849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8913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DTC/e-commerce marketers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F1A31B-3F53-4D55-882B-CE6DD6F9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57488"/>
            <a:ext cx="4524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EA7186-8E45-4829-999D-6A7D249A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2757488"/>
            <a:ext cx="4130951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F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CA5F19-3050-49D3-A430-FD061BF9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709863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creative volume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D640D4-9BD4-477E-84E8-2D7DDFA3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SMB marketing teams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78E599-CCFF-4E78-AE77-432CE556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57550"/>
            <a:ext cx="4524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688C7-24DD-41ED-A9B1-CFD42D02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257550"/>
            <a:ext cx="354081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78AF12-B3F0-4439-AF30-3DB5F48C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2099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self-serve fit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988ACD-992B-4A76-807C-B5242B50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29038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Enterprise brand labs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2F1C5-4C9C-4E53-9620-084D9D1A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757613"/>
            <a:ext cx="4524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007FC9-77D3-4760-9C80-DF570A5F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3757613"/>
            <a:ext cx="221301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F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2EF1C9-B18F-449F-AD28-7E996024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09988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later motion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07B356-6B88-4CF4-8F0F-AB2D47D90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95A917-605D-4162-8692-36E51786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622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Wedge logic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91A8FB-48C0-4B0A-80F5-9F75E877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194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Agencies turn one product workflow into many client campaigns. That creates faster feedback, usage revenue, and proof points for enterprise buyers.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E9F397-07CE-47F0-9C0A-FDBFC67C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Cortex investor package | directional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EDCC54-EFF0-4443-AF5E-E4FF94DE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2C3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2C3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602689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6A4F1F-B958-4066-A6F7-CDE007C0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81321-F0DA-4A57-9E1E-6FEABBB8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D39DA-F6A5-4915-BB79-302D7E412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F48553C-E531-43FF-9928-5CB9BCDC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46A6577-0871-4FC6-AC97-310ECE09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G O   T O   M A R K E 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08B84-F273-49DC-BCCB-586AA9E1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The first sales motion is a paid pilot that converts creative volume into recurring usage.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9F3B6-27F3-40D8-8977-4CB59E25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FD7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8FD7F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A22AE-9950-4DE0-9D42-A5409921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2407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B27BE0-DDD4-4D81-A7EB-5DF2FA7D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526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Hackathon 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677E22-411F-41F1-97A1-1BD97789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71675"/>
            <a:ext cx="438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Demo the live loop and collect judge/mentor intros.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0BE8EA-452B-47D6-B5CD-A5ECB104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67025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DA7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DA7FF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2723D-0635-4FD1-A86D-A2641F59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549344-03EA-47EB-8101-1D07C3F2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8670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Agency pilots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B8BFFE-8F31-4184-9FC8-47C4F0C2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86075"/>
            <a:ext cx="438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3-5 teams test live campaigns, export reports, and compare with platform outcomes.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20728F-0D20-4B4A-BA54-C51AEA18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8FD7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8FD7FF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F52DD-05B4-454C-BC57-884BAB4E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5287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C7CDB-54F4-4BE9-B8E3-C7E8295C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7814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Self-serve SaaS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EF865-5B29-4A4E-A455-5C7DA4C7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438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Package templates, benchmarks, and usage limits by tier.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68905-D3BE-452B-93D3-79C2E481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457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BDA7FF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BDA7FF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7E51B-8C60-49AC-8153-72000824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6727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1FBC8-CCAF-4414-8C98-1BF0BF9D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9582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Platform integrations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793B1-9554-430E-9F09-7F26D95A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14875"/>
            <a:ext cx="4381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Meta/TikTok/Instagram handoff turns insight into execution.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069572-0E32-4BED-978B-899E1CC23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000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AC5978-3221-4B47-9ACC-A3A5C144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4003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8FD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8FD7FF"/>
                </a:solidFill>
                <a:latin typeface="Aptos"/>
                <a:ea typeface="Aptos"/>
                <a:cs typeface="Aptos"/>
              </a:rPr>
              <a:t>Paid pilot package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C08A5B8-E2FF-48AF-A8AA-C8AA900E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57500"/>
            <a:ext cx="1428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EUR 5k-15k</a:t>
            </a:r>
          </a:p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per agency pilot</a:t>
            </a:r>
          </a:p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with success metrics tied to saved creative decisions.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C9A8CF-F8CB-40F4-BA9E-9DC051EF7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Cortex investor package | directional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633598A-CC8E-452A-B8B9-C877C44C4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2C3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2C3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077641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7CDACB-635E-4648-BAE5-78B6588EF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AA69A-AA1B-40DF-8685-19D1B20E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09CBA-B80E-42E1-9D24-61A323B7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0FBCA17-E6A8-4DD4-AAD3-FE881A69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8803CE-9444-42A6-AE0E-32D20821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3 - Y E A R   M O D E 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EB96F8-9984-4771-878F-12D3CBA8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The directional model reaches EUR 2.7M in Year 3 while keeping usage economics visible.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359FE-3301-404A-AB36-F1664ABD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81200"/>
            <a:ext cx="7277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C06921-FE3B-4BC8-8771-612A76BE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76450"/>
            <a:ext cx="2362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1A22C-2945-4043-B4BD-AE06C392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07645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AA2DFC-7C2D-4062-A765-EC47D8B8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7645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2556C-2352-4D63-8615-D1973415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76450"/>
            <a:ext cx="1409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Year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470D02-547E-4821-AD20-C86E0B96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33625"/>
            <a:ext cx="727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8421EB-9C22-4C89-8676-77620F84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Revenue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1AE999-A653-46A5-9323-6659A208B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003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EUR 122k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6C49F-2AA0-4272-AEA8-DB2A44C7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03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EUR 813k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E3AE7C-810C-42A9-81E4-7CAF5B89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003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EUR 2.7M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E56241-EE0E-4752-8B25-64DC6DD1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727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DE272-2E3D-4EFF-9FB2-3A77DE43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Ending customers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C63B24-42D8-49E2-A032-4A561E66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670994-F192-4FD5-BBA0-E25CEBC4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241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173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10B29-0B20-4D8C-80BD-7325A6EE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505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13ADE2-3C78-421F-B913-3F6D5822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81325"/>
            <a:ext cx="727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46E0DF-1319-49EF-BAF7-22D4893D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Gross margin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0B6F40-473E-486E-A522-63230805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480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68%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275BEB-4FEC-44C1-8D09-42D71D3ED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480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F3F113-5A18-4E69-ADA0-C33248572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4800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80%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1CADCD-E1EF-4D62-B762-E59F1184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05175"/>
            <a:ext cx="727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D04D9-0CFD-46F3-9A3C-053009F0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2362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EBITDA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DCC50B-19C8-440F-9D35-42C5EA42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718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EUR -287k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09E2D0-1DA4-4834-8E1A-86BBBCD1C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3718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EUR -450k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D77CA4-2362-4E8C-AD86-B3DAB41E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71850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EUR -57k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9AB605-68FA-42D3-8263-8CB655B2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Y1 revenue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5E19E7-1ECB-41AB-8701-E65B2226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10075"/>
            <a:ext cx="4143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8BD549D-1A47-4733-AD1F-FF95F0FF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10075"/>
            <a:ext cx="18552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F0380D6-587B-4E10-B29A-FF35517F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3624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EUR 122k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3DEA8F-33E6-4DFA-98DE-E53945D8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05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Y2 revenue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49B85D-F284-4300-93E4-071D1D86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33925"/>
            <a:ext cx="4143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0155A8-C688-4B09-939D-EB2BD226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733925"/>
            <a:ext cx="1233862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4E5194-8639-4197-83D3-AAAB2CC9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8630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EUR 813k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3C8422-AAEA-47C8-8B78-9DB14D7F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Y3 revenue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BA0C35-F465-429E-99F7-4F5D5BA4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57775"/>
            <a:ext cx="4143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3A715F-AE44-4F4D-8AD3-4FC0C3CC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57775"/>
            <a:ext cx="414337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F0C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42FE97-B857-4386-8615-9CC2693C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010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EUR 2.7M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64DF95-2430-4224-AEBA-3211FEC3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2209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86CB09-F929-4243-AF2C-098D6837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Assumption discipline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02AD7A4-BA3D-4BA3-94DA-71BB2D2B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990850"/>
            <a:ext cx="1543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Subscriptions create recurring base revenue; usage fees scale with analyzed creative volume. COGS improve as model infrastructure becomes less provider-dependent.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4AB25F-CA72-4589-9DA6-DF9D72D4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See editable Excel model for formulas and assumptions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85E3DB-3BF4-4F7D-B8A1-A5BACAB8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2C3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2C3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47659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C0CA97-2DEF-4025-97A6-78877B01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B73D8-CA96-4073-9E6F-A0587F1F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CC2BF-36CC-491D-885D-59B67B8F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99095A2-ECDC-4BBD-BB88-869A5260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F92CE84-AA2C-464B-95C6-50FE51FD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D I L I G E N C 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6E298-209C-45D2-B980-D0B6C7D3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The license risk is real, but it is also a crisp productization roadmap.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CFE7EB-0C40-42CF-B608-AF380807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30003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1F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4C8DF-BD3C-42C4-9DC1-30F573EFA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57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CF7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CF70"/>
                </a:solidFill>
                <a:latin typeface="Aptos"/>
                <a:ea typeface="Aptos"/>
                <a:cs typeface="Aptos"/>
              </a:rPr>
              <a:t>Current prototype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3622B-0DB2-4118-B287-D9C1761B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3370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TRIBE v2 can support non-commercial hackathon and research demos, according to the attached PDF.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887EA-66A2-497B-A31F-60B31E86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30003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1F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084FC8-3B54-4A8E-87B9-010C7A60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457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8A8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8A8A"/>
                </a:solidFill>
                <a:latin typeface="Aptos"/>
                <a:ea typeface="Aptos"/>
                <a:cs typeface="Aptos"/>
              </a:rPr>
              <a:t>Commercial blocker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7DE29-2109-47C9-B782-7C7C21DF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33700"/>
            <a:ext cx="2190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The PDF states CC BY-NC does not permit direct commercial marketing analytics deployment.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5663A-2DA4-4F69-96BA-E8380869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300037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C5C47-D9D4-4ACD-962B-7CFB46B3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5745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D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8FD7FF"/>
                </a:solidFill>
                <a:latin typeface="Aptos"/>
                <a:ea typeface="Aptos"/>
                <a:cs typeface="Aptos"/>
              </a:rPr>
              <a:t>Investor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9E82A2-1B27-4EB7-AA5A-778737480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337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Use seed funding to secure a license, partner with a lab/data provider, or replace the core model with commercial rights.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1DF564-E43E-4C4A-91EE-38B21BD8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62550"/>
            <a:ext cx="7620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This is framed as a go/no-go diligence item, not something to gloss over.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A1160A-9C5A-4CFD-B511-B3C2F397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Source: attached TRIBE v2 licensing PDF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8678F2-83B8-4DB7-8EA2-8963A876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2C3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2C3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4149706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2FD7EF-415F-4828-A2FD-7170EA26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3AAE3-A91B-41DC-82A5-DA511B1C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60EBFA-19C4-4453-9D8C-B0242BC3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6B6C874-7ABC-4926-B7B9-8B5C7876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F740DB0-88D7-4E7C-A976-D45CC262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R O A D M A 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354E8-837F-4BAE-B34D-395BE98CC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Milestones move from demo novelty to defensible commercial creative intelligence.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A0B847-FFCA-4035-8D1D-517A1F63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9565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7C782C-8F18-48DB-A6FD-1AC7B1D3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7BB2C-ADBA-419A-BF13-694BA6E5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0-3 mo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E8D351-F954-4E56-B28B-2191B42F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FD7FF"/>
                </a:solidFill>
                <a:latin typeface="Aptos"/>
                <a:ea typeface="Aptos"/>
                <a:cs typeface="Aptos"/>
              </a:rPr>
              <a:t>Hackathon polish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445B9-AB36-4E35-A9D6-5C92C5F1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Tighten UX, demo data, export reports, legal memo.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015702-795B-4ED3-A414-77FCCC33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9565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95B0D-CD98-4F90-89BB-323FA97A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A9C51A-519A-4B1E-95C7-AAABF915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71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3-6 mo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49D837-AEDA-433B-992A-3343157B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14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FD7FF"/>
                </a:solidFill>
                <a:latin typeface="Aptos"/>
                <a:ea typeface="Aptos"/>
                <a:cs typeface="Aptos"/>
              </a:rPr>
              <a:t>Pilot proof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E9EBE9-51EA-4938-85C0-E49BFBBC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600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Run agency pilots and compare predicted scores with campaign outcomes.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43CF9-5AF8-4561-BB8D-C07E11D7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9565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BC892C-11A2-4686-B849-308D5085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9706BA-1CA1-4145-9017-A9BC29C1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571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6-12 mo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7CEE3E-0D9D-45B8-89A2-A0E4C757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14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FD7FF"/>
                </a:solidFill>
                <a:latin typeface="Aptos"/>
                <a:ea typeface="Aptos"/>
                <a:cs typeface="Aptos"/>
              </a:rPr>
              <a:t>Model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9D8B40-365F-46C0-A33D-2BA4188D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600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License, partner, or replace the neural model for commercial use.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4C3620-DD43-4EE9-9707-561F6D07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95650"/>
            <a:ext cx="2190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1928F3-18F1-421E-B5A7-B618CA85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2099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1F88A-D04B-46A6-99AD-3FAADB8A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57175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13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12-24 mo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92CC7B-07F4-44EA-BB68-9CCDDA42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146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D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FD7FF"/>
                </a:solidFill>
                <a:latin typeface="Aptos"/>
                <a:ea typeface="Aptos"/>
                <a:cs typeface="Aptos"/>
              </a:rPr>
              <a:t>Workflow moat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3F8F1F-9A03-4638-AB50-07616493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00450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Benchmarks, templates, integrations, and account-level learning loops.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BEDF37-A2AE-4B0F-AD01-E3CB7F03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9810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91D7ED-2A14-4C5A-B75B-171BEA5E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04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North-star KPI: share of creative decisions made with pre-spend Cortex evidence before campaign launch.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461806-E062-40A8-BE4D-A4C2A299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Cortex investor package | directional model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C61273-D6D6-4D08-9FCA-9969E369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2C3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2C3"/>
                </a:solidFill>
                <a:latin typeface="Georgia"/>
                <a:ea typeface="Georgia"/>
                <a:cs typeface="Georgia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8036087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CB6680-EE3C-4668-BCED-617F5CEF6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7D522-D5E3-4053-B952-7AAB2EEC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BD4B6-1BBF-436B-9992-3EA01C35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1BAF759-C0C2-4951-9459-A58051D53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BBE661D-8251-4F7A-B4DC-A2D76467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A S 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3261C-677C-425B-8193-E0CF68F0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Use the hackathon shortlist to convert technical curiosity into funded pilot momentum.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73C4D0-DE14-4243-8BC5-28A72CCE5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716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6F422B-7719-46D8-B695-ED11074E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478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EUR 750k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009ABE-199B-4740-90D1-C4C25D3E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19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Seed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F52426-6865-4EC7-8046-D9DC9589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003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12-18 month runway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49B29-74BA-4EC3-99CB-E45C1AFF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9716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E7B09E-F509-45BB-B1DE-6E08A3A6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478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3-5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D9F4ED-A563-4A24-AF05-69C81047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19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Agency pilots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E58BD3-2011-483D-ACB4-EA116D921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003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first proof cohort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7A8C5D-E717-4489-BA71-8C5E873F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9716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5D2A11-6885-4182-B35D-115C792A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0478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739122-4EFD-48FB-8C6B-E15160FB9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419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Commercial model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2EC9C3-E739-42BC-A414-10F59893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6003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license / partner / replace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17C91-D5D7-4F93-910C-F480FC599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971675"/>
            <a:ext cx="95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A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158C9-E9C0-4BB4-A2B0-6AAE0631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4787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EUR 2.7M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8E5CBB-2949-4FA8-AAA2-356E992D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Y3 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E1D762-5702-45A4-9678-99238600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00325"/>
            <a:ext cx="200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editable 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6C76E-2C8E-416F-8B08-8150AACA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81450"/>
            <a:ext cx="9810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6EAEF0-B2D5-45FF-BA51-32B3BC450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291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Cortex is not just a creative generator. It is a decision layer for which creative deserves spend.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9AD6FA-CD18-4471-B2BB-DA2626FA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76875"/>
            <a:ext cx="666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Investor materials generated from the local product repo and attached TRIBE v2 document.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B5050E-D5BD-413F-966B-0EC09BFF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Cortex investor package | directional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05DA3E-0864-4100-8D33-FA51A366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2C3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2C3"/>
                </a:solidFill>
                <a:latin typeface="Georgia"/>
                <a:ea typeface="Georgia"/>
                <a:cs typeface="Georgia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596864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2026-05-19T07:52:22.0030000Z</dcterms:created>
  <dcterms:modified xsi:type="dcterms:W3CDTF">2026-05-19T07:52:22.0030000Z</dcterms:modified>
</coreProperties>
</file>